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31520"/>
            <a:ext cx="10835640" cy="5166360"/>
          </a:xfrm>
          <a:prstGeom prst="roundRect">
            <a:avLst/>
          </a:prstGeom>
          <a:solidFill>
            <a:srgbClr val="0E1D2B"/>
          </a:solidFill>
          <a:ln>
            <a:solidFill>
              <a:srgbClr val="2F5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BDAC5"/>
                </a:solidFill>
                <a:latin typeface="Aptos Mono"/>
              </a:defRPr>
            </a:pPr>
            <a:r>
              <a:t>HAPPIEST HEALTH · DIGITAL TWIN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EFF6FF"/>
                </a:solidFill>
                <a:latin typeface="Aptos Display"/>
              </a:defRPr>
            </a:pPr>
            <a:r>
              <a:t>GlucoTwin Bharat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88036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94A8C2"/>
                </a:solidFill>
                <a:latin typeface="Aptos"/>
              </a:defRPr>
            </a:pPr>
            <a:r>
              <a:t>An Indian meal-aware, personalized glucose-excursion forecasting Digital Twin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4160520"/>
            <a:ext cx="3108960" cy="621792"/>
          </a:xfrm>
          <a:prstGeom prst="roundRect">
            <a:avLst/>
          </a:prstGeom>
          <a:solidFill>
            <a:srgbClr val="193938"/>
          </a:solidFill>
          <a:ln>
            <a:solidFill>
              <a:srgbClr val="429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4315968"/>
            <a:ext cx="2788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BDAC5"/>
                </a:solidFill>
                <a:latin typeface="Aptos Mono"/>
              </a:defRPr>
            </a:pPr>
            <a:r>
              <a:t>REACT  +  FASTAPI  + 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66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Solo student prototype  |  Synthetic patients and sensor streams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The gap: dashboards describe; twins update and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8C2"/>
                </a:solidFill>
                <a:latin typeface="Aptos"/>
              </a:defRPr>
            </a:pPr>
            <a:r>
              <a:t>Focus: one localized outcome — potential elevated-glucose excursion within 120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257800" cy="347472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4A8C2"/>
                </a:solidFill>
                <a:latin typeface="Aptos"/>
              </a:defRPr>
            </a:pPr>
            <a:r>
              <a:t>TODAY: HISTORICAL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FF6FF"/>
                </a:solidFill>
                <a:latin typeface="Aptos"/>
              </a:defRPr>
            </a:pPr>
            <a:r>
              <a:t>• Readings are reviewed after collection</a:t>
            </a:r>
          </a:p>
          <a:p>
            <a:pPr>
              <a:defRPr sz="1700" b="0">
                <a:solidFill>
                  <a:srgbClr val="EFF6FF"/>
                </a:solidFill>
                <a:latin typeface="Aptos"/>
              </a:defRPr>
            </a:pPr>
            <a:r>
              <a:t>• Meal and activity context may be fragmented</a:t>
            </a:r>
          </a:p>
          <a:p>
            <a:pPr>
              <a:defRPr sz="1700" b="0">
                <a:solidFill>
                  <a:srgbClr val="EFF6FF"/>
                </a:solidFill>
                <a:latin typeface="Aptos"/>
              </a:defRPr>
            </a:pPr>
            <a:r>
              <a:t>• A static risk score ignores changing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3474720"/>
          </a:xfrm>
          <a:prstGeom prst="roundRect">
            <a:avLst/>
          </a:prstGeom>
          <a:solidFill>
            <a:srgbClr val="142F2D"/>
          </a:solidFill>
          <a:ln>
            <a:solidFill>
              <a:srgbClr val="397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DAC5"/>
                </a:solidFill>
                <a:latin typeface="Aptos"/>
              </a:defRPr>
            </a:pPr>
            <a:r>
              <a:t>GLUCOTWIN: DYNAMIC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FF6FF"/>
                </a:solidFill>
                <a:latin typeface="Aptos"/>
              </a:defRPr>
            </a:pPr>
            <a:r>
              <a:t>• Fuses synthetic EHR + time-series observations</a:t>
            </a:r>
          </a:p>
          <a:p>
            <a:pPr>
              <a:defRPr sz="1700" b="0">
                <a:solidFill>
                  <a:srgbClr val="EFF6FF"/>
                </a:solidFill>
                <a:latin typeface="Aptos"/>
              </a:defRPr>
            </a:pPr>
            <a:r>
              <a:t>• Updates a per-patient virtual state</a:t>
            </a:r>
          </a:p>
          <a:p>
            <a:pPr>
              <a:defRPr sz="1700" b="0">
                <a:solidFill>
                  <a:srgbClr val="EFF6FF"/>
                </a:solidFill>
                <a:latin typeface="Aptos"/>
              </a:defRPr>
            </a:pPr>
            <a:r>
              <a:t>• Forecasts multiple horizons</a:t>
            </a:r>
          </a:p>
          <a:p>
            <a:pPr>
              <a:defRPr sz="1700" b="0">
                <a:solidFill>
                  <a:srgbClr val="EFF6FF"/>
                </a:solidFill>
                <a:latin typeface="Aptos"/>
              </a:defRPr>
            </a:pPr>
            <a:r>
              <a:t>• Tests hypothetical Indian-meal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A narrowly scoped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8C2"/>
                </a:solidFill>
                <a:latin typeface="Aptos"/>
              </a:defRPr>
            </a:pPr>
            <a:r>
              <a:t>A proof-of-concept is more credible when its target, inputs and limits are explicit.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2514600" cy="214884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DAC5"/>
                </a:solidFill>
                <a:latin typeface="Aptos"/>
              </a:defRPr>
            </a:pPr>
            <a:r>
              <a:t>Historical EHR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FF6FF"/>
                </a:solidFill>
                <a:latin typeface="Aptos"/>
              </a:defRPr>
            </a:pPr>
            <a:r>
              <a:t>Demographics, HbA1c, diagnoses, baseline glucose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3063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DA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286000"/>
            <a:ext cx="2514600" cy="214884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5786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989FF"/>
                </a:solidFill>
                <a:latin typeface="Aptos"/>
              </a:defRPr>
            </a:pPr>
            <a:r>
              <a:t>Dynamic 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15468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FF6FF"/>
                </a:solidFill>
                <a:latin typeface="Aptos"/>
              </a:defRPr>
            </a:pPr>
            <a:r>
              <a:t>CGM, meal events, steps, sleep, recent 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063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DA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286000"/>
            <a:ext cx="2514600" cy="214884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5786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B969"/>
                </a:solidFill>
                <a:latin typeface="Aptos"/>
              </a:defRPr>
            </a:pPr>
            <a:r>
              <a:t>Twin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15468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FF6FF"/>
                </a:solidFill>
                <a:latin typeface="Aptos"/>
              </a:defRPr>
            </a:pPr>
            <a:r>
              <a:t>Patient-specific features + updated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3063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DAC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2514600" cy="214884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59" y="25786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DAC5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3154680"/>
            <a:ext cx="2148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FF6FF"/>
                </a:solidFill>
                <a:latin typeface="Aptos"/>
              </a:defRPr>
            </a:pPr>
            <a:r>
              <a:t>15/30/60/120-minute trajectory + scenario 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94A8C2"/>
                </a:solidFill>
                <a:latin typeface="Aptos"/>
              </a:defRPr>
            </a:pPr>
            <a:r>
              <a:t>Key distinction: the twin's forecast updates when observations and scenario inputs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03 ·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Use case: meal-aware glucose excursion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8C2"/>
                </a:solidFill>
                <a:latin typeface="Aptos"/>
              </a:defRPr>
            </a:pPr>
            <a:r>
              <a:t>Indian meals serve as scenario labels; carbohydrate grams are explicit, editable estimates.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108960" cy="338328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Current glucose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Recent glucose slope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Estimated meal carbs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Steps and sleep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Individual synthetic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20240"/>
            <a:ext cx="3108960" cy="338328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989FF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889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+15 min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+30 min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+60 min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+120 min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Threshold-crossing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920240"/>
            <a:ext cx="3108960" cy="338328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B969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889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Select a virtual patient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Advance sensor time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Change meal and activity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Compare model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04 · 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Two explicit data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8C2"/>
                </a:solidFill>
                <a:latin typeface="Aptos"/>
              </a:defRPr>
            </a:pPr>
            <a:r>
              <a:t>No real patient records, identifiers, or clinical signals are included.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12080" cy="3429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"/>
              </a:defRPr>
            </a:pPr>
            <a:r>
              <a:t>STREAM A · SYNTHETIC EHR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4480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F6FF"/>
                </a:solidFill>
                <a:latin typeface="Aptos"/>
              </a:defRPr>
            </a:pPr>
            <a:r>
              <a:t>patients.json</a:t>
            </a:r>
          </a:p>
          <a:p>
            <a:pPr>
              <a:defRPr sz="1600" b="0">
                <a:solidFill>
                  <a:srgbClr val="EFF6FF"/>
                </a:solidFill>
                <a:latin typeface="Aptos"/>
              </a:defRPr>
            </a:pPr>
            <a:r>
              <a:t>6 virtual profiles with age, BMI, HbA1c, baseline glucose, synthetic diagnoses, lab timeline and twin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12080" cy="3429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989FF"/>
                </a:solidFill>
                <a:latin typeface="Aptos"/>
              </a:defRPr>
            </a:pPr>
            <a:r>
              <a:t>STREAM B · TIME 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4480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F6FF"/>
                </a:solidFill>
                <a:latin typeface="Aptos"/>
              </a:defRPr>
            </a:pPr>
            <a:r>
              <a:t>observations.csv</a:t>
            </a:r>
          </a:p>
          <a:p>
            <a:pPr>
              <a:defRPr sz="1600" b="0">
                <a:solidFill>
                  <a:srgbClr val="EFF6FF"/>
                </a:solidFill>
                <a:latin typeface="Aptos"/>
              </a:defRPr>
            </a:pPr>
            <a:r>
              <a:t>24 hours per virtual patient at five-minute intervals: glucose, meal events/carbs, steps, sleep and 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05 · AI /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Model: four Random Forest regressors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8C2"/>
                </a:solidFill>
                <a:latin typeface="Aptos"/>
              </a:defRPr>
            </a:pPr>
            <a:r>
              <a:t>Training rows are generated from a transparent stylized synthetic response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514600" cy="1463040"/>
          </a:xfrm>
          <a:prstGeom prst="roundRect">
            <a:avLst/>
          </a:prstGeom>
          <a:solidFill>
            <a:srgbClr val="1B1D38"/>
          </a:solidFill>
          <a:ln>
            <a:solidFill>
              <a:srgbClr val="4C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989FF"/>
                </a:solidFill>
                <a:latin typeface="Aptos"/>
              </a:defRPr>
            </a:pPr>
            <a: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Near-term trajectory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057400"/>
            <a:ext cx="2514600" cy="1463040"/>
          </a:xfrm>
          <a:prstGeom prst="roundRect">
            <a:avLst/>
          </a:prstGeom>
          <a:solidFill>
            <a:srgbClr val="1B1D38"/>
          </a:solidFill>
          <a:ln>
            <a:solidFill>
              <a:srgbClr val="4C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989FF"/>
                </a:solidFill>
                <a:latin typeface="Aptos"/>
              </a:defRPr>
            </a:pPr>
            <a:r>
              <a:t>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8346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Meal response 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057400"/>
            <a:ext cx="2514600" cy="1463040"/>
          </a:xfrm>
          <a:prstGeom prst="roundRect">
            <a:avLst/>
          </a:prstGeom>
          <a:solidFill>
            <a:srgbClr val="1B1D38"/>
          </a:solidFill>
          <a:ln>
            <a:solidFill>
              <a:srgbClr val="4C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989FF"/>
                </a:solidFill>
                <a:latin typeface="Aptos"/>
              </a:defRPr>
            </a:pPr>
            <a:r>
              <a:t>60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Short-horizon forecast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057400"/>
            <a:ext cx="2514600" cy="1463040"/>
          </a:xfrm>
          <a:prstGeom prst="roundRect">
            <a:avLst/>
          </a:prstGeom>
          <a:solidFill>
            <a:srgbClr val="1B1D38"/>
          </a:solidFill>
          <a:ln>
            <a:solidFill>
              <a:srgbClr val="4C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989FF"/>
                </a:solidFill>
                <a:latin typeface="Aptos"/>
              </a:defRPr>
            </a:pPr>
            <a:r>
              <a:t>120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8346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Excursion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FF6FF"/>
                </a:solidFill>
                <a:latin typeface="Aptos"/>
              </a:defRPr>
            </a:pPr>
            <a:r>
              <a:t>Features: current/baseline glucose, HbA1c, BMI, age, carbs, minutes since meal, glucose slope, steps, sleep and simulated person-specific parameters.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03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DAC5"/>
                </a:solidFill>
                <a:latin typeface="Aptos"/>
              </a:defRPr>
            </a:pPr>
            <a:r>
              <a:t>Split by virtual-patient ID to reduce leakage between generated train/test partitions.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06 · DIGITAL TWIN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State update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38328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756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F6FF"/>
                </a:solidFill>
                <a:latin typeface="Aptos"/>
              </a:defRPr>
            </a:pPr>
            <a:r>
              <a:t>Load EHR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505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Patient baseline +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20240"/>
            <a:ext cx="338328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848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756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F6FF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505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Latest sensor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920240"/>
            <a:ext cx="338328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0848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756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F6FF"/>
                </a:solidFill>
                <a:latin typeface="Aptos"/>
              </a:defRPr>
            </a:pPr>
            <a:r>
              <a:t>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4505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Current twin state + trend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0440"/>
            <a:ext cx="338328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850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6758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F6FF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5079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Multi-horizon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520440"/>
            <a:ext cx="338328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850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 Mono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6758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F6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05079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Hypothetical scenario inputs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520440"/>
            <a:ext cx="338328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68503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 Mono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6758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F6FF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05079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8C2"/>
                </a:solidFill>
                <a:latin typeface="Aptos"/>
              </a:defRPr>
            </a:pPr>
            <a:r>
              <a:t>Append next simulated sample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07 ·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Implementation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017520" cy="10515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BDAC5"/>
                </a:solidFill>
                <a:latin typeface="Aptos"/>
              </a:defRPr>
            </a:pPr>
            <a: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414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Recharts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017520" cy="10515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989FF"/>
                </a:solidFill>
                <a:latin typeface="Aptos"/>
              </a:defRPr>
            </a:pPr>
            <a:r>
              <a:t>FastAPI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414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Schemas + in-memory stream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017520" cy="10515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B969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4414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Random Forest × 4 horizons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Storage: version-controlled synthetic JSON/CSV.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API: patient read, observation read, simulate, forecast, scenario, metrics, reset.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Runtime: local development server; no cloud services or patient database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08 · 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Doctor-facing dashboard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8C2"/>
                </a:solidFill>
                <a:latin typeface="Aptos"/>
              </a:defRPr>
            </a:pPr>
            <a:r>
              <a:t>Dashboard summarizes input context so the model is inspectable, not a black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16636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"/>
              </a:defRPr>
            </a:pPr>
            <a:r>
              <a:t>Twin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0574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FF6FF"/>
                </a:solidFill>
                <a:latin typeface="Aptos"/>
              </a:defRPr>
            </a:pPr>
            <a:r>
              <a:t>Observed history + forecast curve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74519"/>
            <a:ext cx="516636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989FF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0574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FF6FF"/>
                </a:solidFill>
                <a:latin typeface="Aptos"/>
              </a:defRPr>
            </a:pPr>
            <a:r>
              <a:t>Synthetic EHR and lab timeline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79"/>
            <a:ext cx="516636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"/>
              </a:defRPr>
            </a:pPr>
            <a:r>
              <a:t>Scenario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5661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FF6FF"/>
                </a:solidFill>
                <a:latin typeface="Aptos"/>
              </a:defRPr>
            </a:pPr>
            <a:r>
              <a:t>Edit meal carbs, steps and sleep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383279"/>
            <a:ext cx="5166360" cy="114300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989FF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35661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FF6FF"/>
                </a:solidFill>
                <a:latin typeface="Aptos"/>
              </a:defRPr>
            </a:pPr>
            <a:r>
              <a:t>Held-out synthetic MAE/RMSE + 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09 ·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Evaluation approach and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4937760" cy="33375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BDAC5"/>
                </a:solidFill>
                <a:latin typeface="Aptos"/>
              </a:defRPr>
            </a:pPr>
            <a:r>
              <a:t>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MAE (mg/dL)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RMSE (mg/dL)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Held-out synthetic patient groups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Tree ensemble spread reported as heuristic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4937760" cy="3337560"/>
          </a:xfrm>
          <a:prstGeom prst="roundRect">
            <a:avLst/>
          </a:prstGeom>
          <a:solidFill>
            <a:srgbClr val="2A1F1A"/>
          </a:solidFill>
          <a:ln>
            <a:solidFill>
              <a:srgbClr val="69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B969"/>
                </a:solidFill>
                <a:latin typeface="Aptos"/>
              </a:defRPr>
            </a:pPr>
            <a:r>
              <a:t>WHAT RESULTS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Metrics assess fit to generated trajectories only. Same-process synthetic validation can demonstrate pipeline mechanics, not generalization to real physiology or clinical utility.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10 ·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Safety, limitations and responsible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3520440"/>
          </a:xfrm>
          <a:prstGeom prst="roundRect">
            <a:avLst/>
          </a:prstGeom>
          <a:solidFill>
            <a:srgbClr val="291D19"/>
          </a:solidFill>
          <a:ln>
            <a:solidFill>
              <a:srgbClr val="674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B969"/>
                </a:solidFill>
                <a:latin typeface="Aptos"/>
              </a:defRPr>
            </a:pPr>
            <a:r>
              <a:t>NOT CLAIMED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526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No clinical validation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No real CGM integration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No diagnostic or medication advice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No calibrated medical probabilities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No evidence of intervention benefit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3520440"/>
          </a:xfrm>
          <a:prstGeom prst="roundRect">
            <a:avLst/>
          </a:prstGeom>
          <a:solidFill>
            <a:srgbClr val="142B2B"/>
          </a:solidFill>
          <a:ln>
            <a:solidFill>
              <a:srgbClr val="2D66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DAC5"/>
                </a:solidFill>
                <a:latin typeface="Aptos"/>
              </a:defRPr>
            </a:pPr>
            <a:r>
              <a:t>NEXT VALIDATION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43200"/>
            <a:ext cx="4526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Evaluate on appropriately licensed open data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Use patient-separated external validation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Assess calibration and subgroup errors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Clinician oversight, privacy/security controls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Prospective study and regulatory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11 ·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Live demo: end-to-end in five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0424160" cy="5943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DAC5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92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Select 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901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Open GTB-002 and inspect synthetic EHR.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69464"/>
            <a:ext cx="10424160" cy="5943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0662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DAC5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Inspect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6883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Read the CGM curve and last sample.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355848"/>
            <a:ext cx="10424160" cy="5943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9300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DAC5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474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Update 15/30/60/120-minute trajectory.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142232"/>
            <a:ext cx="10424160" cy="5943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7939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DAC5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2611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Advance virtual sensor by five minutes.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928616"/>
            <a:ext cx="10424160" cy="59436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06577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DAC5"/>
                </a:solidFill>
                <a:latin typeface="Aptos Mono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0383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F6FF"/>
                </a:solidFill>
                <a:latin typeface="Aptos"/>
              </a:defRPr>
            </a:pPr>
            <a:r>
              <a:t>What-if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047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"/>
              </a:defRPr>
            </a:pPr>
            <a:r>
              <a:t>Change carbs and compare scenarios.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12 ·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Reproducible, inspectable code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12080" cy="329184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DAC5"/>
                </a:solidFill>
                <a:latin typeface="Aptos"/>
              </a:defRPr>
            </a:pPr>
            <a:r>
              <a:t>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React/Vite frontend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FastAPI backend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JSON + CSV seed data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Automated endpoint tests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README + MIT license</a:t>
            </a:r>
          </a:p>
          <a:p>
            <a:pPr>
              <a:defRPr sz="1500" b="0">
                <a:solidFill>
                  <a:srgbClr val="EFF6FF"/>
                </a:solidFill>
                <a:latin typeface="Aptos"/>
              </a:defRPr>
            </a:pPr>
            <a:r>
              <a:t>• Architecture PDF/SVG + this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212080" cy="329184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989FF"/>
                </a:solidFill>
                <a:latin typeface="Aptos"/>
              </a:defRPr>
            </a:pPr>
            <a:r>
              <a:t>RUN LOCALLY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4320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FF6FF"/>
                </a:solidFill>
                <a:latin typeface="Aptos Mono"/>
              </a:defRPr>
            </a:pPr>
            <a:r>
              <a:t>Backend: pip install -r requirements.txt</a:t>
            </a:r>
          </a:p>
          <a:p>
            <a:pPr>
              <a:defRPr sz="1400" b="0">
                <a:solidFill>
                  <a:srgbClr val="EFF6FF"/>
                </a:solidFill>
                <a:latin typeface="Aptos Mono"/>
              </a:defRPr>
            </a:pPr>
            <a:r>
              <a:t>uvicorn app.main:app --reload</a:t>
            </a:r>
          </a:p>
          <a:p>
            <a:pPr>
              <a:defRPr sz="1400" b="0">
                <a:solidFill>
                  <a:srgbClr val="EFF6FF"/>
                </a:solidFill>
                <a:latin typeface="Aptos Mono"/>
              </a:defRPr>
            </a:pPr>
          </a:p>
          <a:p>
            <a:pPr>
              <a:defRPr sz="1400" b="0">
                <a:solidFill>
                  <a:srgbClr val="EFF6FF"/>
                </a:solidFill>
                <a:latin typeface="Aptos Mono"/>
              </a:defRPr>
            </a:pPr>
            <a:r>
              <a:t>Frontend: npm install</a:t>
            </a:r>
          </a:p>
          <a:p>
            <a:pPr>
              <a:defRPr sz="1400" b="0">
                <a:solidFill>
                  <a:srgbClr val="EFF6FF"/>
                </a:solidFill>
                <a:latin typeface="Aptos Mono"/>
              </a:defRPr>
            </a:pPr>
            <a:r>
              <a:t>npm run dev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13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From proof-of-concept to responsible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 ·  SYNTHETIC-DATA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10332720" cy="64008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DAC5"/>
                </a:solidFill>
                <a:latin typeface="Aptos"/>
              </a:defRPr>
            </a:pPr>
            <a:r>
              <a:t>1 ·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3794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FF6FF"/>
                </a:solidFill>
                <a:latin typeface="Aptos"/>
              </a:defRPr>
            </a:pPr>
            <a:r>
              <a:t>Use licensed datasets; document provenance and permissions.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23744"/>
            <a:ext cx="10332720" cy="64008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79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DAC5"/>
                </a:solidFill>
                <a:latin typeface="Aptos"/>
              </a:defRPr>
            </a:pPr>
            <a:r>
              <a:t>2 ·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7004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FF6FF"/>
                </a:solidFill>
                <a:latin typeface="Aptos"/>
              </a:defRPr>
            </a:pPr>
            <a:r>
              <a:t>Compare with simple baselines on separated patients.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55848"/>
            <a:ext cx="10332720" cy="64008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112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DAC5"/>
                </a:solidFill>
                <a:latin typeface="Aptos"/>
              </a:defRPr>
            </a:pPr>
            <a:r>
              <a:t>3 · Clinical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50215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FF6FF"/>
                </a:solidFill>
                <a:latin typeface="Aptos"/>
              </a:defRPr>
            </a:pPr>
            <a:r>
              <a:t>Co-design outcomes and alert thresholds with clinicians.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187952"/>
            <a:ext cx="10332720" cy="64008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DAC5"/>
                </a:solidFill>
                <a:latin typeface="Aptos"/>
              </a:defRPr>
            </a:pPr>
            <a:r>
              <a:t>4 ·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33425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FF6FF"/>
                </a:solidFill>
                <a:latin typeface="Aptos"/>
              </a:defRPr>
            </a:pPr>
            <a:r>
              <a:t>Authentication, encryption, audit logging, privacy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020056"/>
            <a:ext cx="10332720" cy="64008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755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DAC5"/>
                </a:solidFill>
                <a:latin typeface="Aptos"/>
              </a:defRPr>
            </a:pPr>
            <a:r>
              <a:t>5 ·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16636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FF6FF"/>
                </a:solidFill>
                <a:latin typeface="Aptos"/>
              </a:defRPr>
            </a:pPr>
            <a:r>
              <a:t>Prospective validation and relevant regulatory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0789920" cy="5212080"/>
          </a:xfrm>
          <a:prstGeom prst="roundRect">
            <a:avLst/>
          </a:prstGeom>
          <a:solidFill>
            <a:srgbClr val="0E1D2B"/>
          </a:solidFill>
          <a:ln>
            <a:solidFill>
              <a:srgbClr val="2F5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BDAC5"/>
                </a:solidFill>
                <a:latin typeface="Aptos Mono"/>
              </a:defRPr>
            </a:pPr>
            <a:r>
              <a:t>GLUCOTWIN BHARAT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FF6FF"/>
                </a:solidFill>
                <a:latin typeface="Aptos Display"/>
              </a:defRPr>
            </a:pPr>
            <a:r>
              <a:t>The main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94A8C2"/>
                </a:solidFill>
                <a:latin typeface="Aptos"/>
              </a:defRPr>
            </a:pPr>
            <a:r>
              <a:t>A demonstrable pipeline that fuses historical and dynamic data, updates a virtual patient, forecasts a specific outcome, and exposes the scenario assumptions — with transparent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663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B969"/>
                </a:solidFill>
                <a:latin typeface="Aptos"/>
              </a:defRPr>
            </a:pPr>
            <a:r>
              <a:t>Synthetic-data proof-of-concept • not for clinical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09A · INITIAL SYNTHETIC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EFF6FF"/>
                </a:solidFill>
                <a:latin typeface="Aptos Display"/>
              </a:defRPr>
            </a:pPr>
            <a:r>
              <a:t>Measured model fit on held-out synthetic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8C2"/>
                </a:solidFill>
                <a:latin typeface="Aptos"/>
              </a:defRPr>
            </a:pPr>
            <a:r>
              <a:t>Values from the committed model configuration; not clinical accuracy estimates.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44200" cy="3520440"/>
          </a:xfrm>
          <a:prstGeom prst="roundRect">
            <a:avLst/>
          </a:prstGeom>
          <a:solidFill>
            <a:srgbClr val="142031"/>
          </a:solidFill>
          <a:ln>
            <a:solidFill>
              <a:srgbClr val="263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148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RF 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RF 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PERSISTENCE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BDAC5"/>
                </a:solidFill>
                <a:latin typeface="Aptos Mono"/>
              </a:defRPr>
            </a:pPr>
            <a:r>
              <a:t>PERSISTENCE RMSE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2633472"/>
            <a:ext cx="10332720" cy="5486"/>
          </a:xfrm>
          <a:prstGeom prst="rect">
            <a:avLst/>
          </a:prstGeom>
          <a:solidFill>
            <a:srgbClr val="25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 Mono"/>
              </a:defRPr>
            </a:pPr>
            <a:r>
              <a:t>+15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2.01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2.63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3.94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5.06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3163824"/>
            <a:ext cx="10332720" cy="5486"/>
          </a:xfrm>
          <a:prstGeom prst="rect">
            <a:avLst/>
          </a:prstGeom>
          <a:solidFill>
            <a:srgbClr val="25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 Mono"/>
              </a:defRPr>
            </a:pPr>
            <a:r>
              <a:t>+30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273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2.40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3.16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735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6.98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8.62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694176"/>
            <a:ext cx="10332720" cy="5486"/>
          </a:xfrm>
          <a:prstGeom prst="rect">
            <a:avLst/>
          </a:prstGeom>
          <a:solidFill>
            <a:srgbClr val="25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03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 Mono"/>
              </a:defRPr>
            </a:pPr>
            <a:r>
              <a:t>+60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3.21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803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4.22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8039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12.67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803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15.36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4224528"/>
            <a:ext cx="10332720" cy="5486"/>
          </a:xfrm>
          <a:prstGeom prst="rect">
            <a:avLst/>
          </a:prstGeom>
          <a:solidFill>
            <a:srgbClr val="25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334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 Mono"/>
              </a:defRPr>
            </a:pPr>
            <a:r>
              <a:t>+120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3342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3.66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334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4.77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3342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18.69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334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8C2"/>
                </a:solidFill>
                <a:latin typeface="Aptos Mono"/>
              </a:defRPr>
            </a:pPr>
            <a:r>
              <a:t>23.02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532120"/>
            <a:ext cx="10652760" cy="512064"/>
          </a:xfrm>
          <a:prstGeom prst="roundRect">
            <a:avLst/>
          </a:prstGeom>
          <a:solidFill>
            <a:srgbClr val="2B2019"/>
          </a:solidFill>
          <a:ln>
            <a:solidFill>
              <a:srgbClr val="69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678424"/>
            <a:ext cx="10195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B969"/>
                </a:solidFill>
                <a:latin typeface="Aptos"/>
              </a:defRPr>
            </a:pPr>
            <a:r>
              <a:t>Synthetic test groups only · same generator assumptions · no real-world or clinical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8C2"/>
                </a:solidFill>
                <a:latin typeface="Aptos Mono"/>
              </a:defRPr>
            </a:pPr>
            <a:r>
              <a:t>GLUCOTWIN BHARAT · SYNTHETIC-DATA PROOF OF CONCEPT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BDAC5"/>
                </a:solidFill>
                <a:latin typeface="Aptos Mono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